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033a65bca54cf0" /><Relationship Type="http://schemas.openxmlformats.org/officeDocument/2006/relationships/extended-properties" Target="/docProps/app.xml" Id="Rc8ccae35f39441c1" /><Relationship Type="http://schemas.openxmlformats.org/officeDocument/2006/relationships/officeDocument" Target="/ppt/presentation.xml" Id="R2d78b76423a341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c3c442a3494035"/>
  </p:sldMasterIdLst>
  <p:notesMasterIdLst>
    <p:notesMasterId xmlns:r="http://schemas.openxmlformats.org/officeDocument/2006/relationships" r:id="R2b5f6c68dda94764"/>
  </p:notesMasterIdLst>
  <p:sldIdLst>
    <p:sldId xmlns:r="http://schemas.openxmlformats.org/officeDocument/2006/relationships" id="256" r:id="R9312c58912834389"/>
    <p:sldId xmlns:r="http://schemas.openxmlformats.org/officeDocument/2006/relationships" id="257" r:id="Rfbe05f295b1d48b4"/>
    <p:sldId xmlns:r="http://schemas.openxmlformats.org/officeDocument/2006/relationships" id="258" r:id="Raad8642fb0314786"/>
    <p:sldId xmlns:r="http://schemas.openxmlformats.org/officeDocument/2006/relationships" id="259" r:id="Racec483082d34717"/>
    <p:sldId xmlns:r="http://schemas.openxmlformats.org/officeDocument/2006/relationships" id="260" r:id="R2c869388426e4312"/>
    <p:sldId xmlns:r="http://schemas.openxmlformats.org/officeDocument/2006/relationships" id="261" r:id="Rba3c62a1724b453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064f9363354f00" /><Relationship Type="http://schemas.openxmlformats.org/officeDocument/2006/relationships/slideMaster" Target="/ppt/slideMasters/slideMaster1.xml" Id="R81c3c442a3494035" /><Relationship Type="http://schemas.openxmlformats.org/officeDocument/2006/relationships/notesMaster" Target="/ppt/notesMasters/notesMaster1.xml" Id="R2b5f6c68dda94764" /><Relationship Type="http://schemas.openxmlformats.org/officeDocument/2006/relationships/presProps" Target="/ppt/presProps.xml" Id="Rcd3f2a2c52df4574" /><Relationship Type="http://schemas.openxmlformats.org/officeDocument/2006/relationships/tableStyles" Target="/ppt/tableStyles.xml" Id="Rf9b51ecb8eb94dda" /><Relationship Type="http://schemas.openxmlformats.org/officeDocument/2006/relationships/slide" Target="/ppt/slides/slide1.xml" Id="R9312c58912834389" /><Relationship Type="http://schemas.openxmlformats.org/officeDocument/2006/relationships/slide" Target="/ppt/slides/slide2.xml" Id="Rfbe05f295b1d48b4" /><Relationship Type="http://schemas.openxmlformats.org/officeDocument/2006/relationships/slide" Target="/ppt/slides/slide3.xml" Id="Raad8642fb0314786" /><Relationship Type="http://schemas.openxmlformats.org/officeDocument/2006/relationships/slide" Target="/ppt/slides/slide4.xml" Id="Racec483082d34717" /><Relationship Type="http://schemas.openxmlformats.org/officeDocument/2006/relationships/slide" Target="/ppt/slides/slide5.xml" Id="R2c869388426e4312" /><Relationship Type="http://schemas.openxmlformats.org/officeDocument/2006/relationships/slide" Target="/ppt/slides/slide6.xml" Id="Rba3c62a1724b45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3ab69bbfd446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6ecddd35034848" /><Relationship Type="http://schemas.openxmlformats.org/officeDocument/2006/relationships/notesMaster" Target="/ppt/notesMasters/notesMaster1.xml" Id="R7d013de6c90c47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44036f637943ff" /><Relationship Type="http://schemas.openxmlformats.org/officeDocument/2006/relationships/notesMaster" Target="/ppt/notesMasters/notesMaster1.xml" Id="Rb0b0d69c7c574e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42de6f803cd4468" /><Relationship Type="http://schemas.openxmlformats.org/officeDocument/2006/relationships/notesMaster" Target="/ppt/notesMasters/notesMaster1.xml" Id="Re073ace0b77f4c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8870bb3b5648ec" /><Relationship Type="http://schemas.openxmlformats.org/officeDocument/2006/relationships/notesMaster" Target="/ppt/notesMasters/notesMaster1.xml" Id="R52eb42fcad8941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da4e2392434efe" /><Relationship Type="http://schemas.openxmlformats.org/officeDocument/2006/relationships/notesMaster" Target="/ppt/notesMasters/notesMaster1.xml" Id="R82e95c8111f642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0afe28a9e24830" /><Relationship Type="http://schemas.openxmlformats.org/officeDocument/2006/relationships/notesMaster" Target="/ppt/notesMasters/notesMaster1.xml" Id="R951ab9df212b40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b775fa32c84f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01d078ee554b89" /><Relationship Type="http://schemas.openxmlformats.org/officeDocument/2006/relationships/slideLayout" Target="/ppt/slideLayouts/slideLayout1.xml" Id="R478a6b40fee54a3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8a6b40fee54a3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5c38dc853444a" /><Relationship Type="http://schemas.openxmlformats.org/officeDocument/2006/relationships/notesSlide" Target="/ppt/notesSlides/notesSlide1.xml" Id="R548c2ea30116453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c69865cd04a07" /><Relationship Type="http://schemas.openxmlformats.org/officeDocument/2006/relationships/notesSlide" Target="/ppt/notesSlides/notesSlide2.xml" Id="R9da95327863449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bbde61b1043ab" /><Relationship Type="http://schemas.openxmlformats.org/officeDocument/2006/relationships/notesSlide" Target="/ppt/notesSlides/notesSlide3.xml" Id="R6b09e22f542042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3425198d64e06" /><Relationship Type="http://schemas.openxmlformats.org/officeDocument/2006/relationships/notesSlide" Target="/ppt/notesSlides/notesSlide4.xml" Id="R412e8872606747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95e6979063420b" /><Relationship Type="http://schemas.openxmlformats.org/officeDocument/2006/relationships/image" Target="/ppt/media/image.png" Id="R1253d1b24f144324" /><Relationship Type="http://schemas.openxmlformats.org/officeDocument/2006/relationships/image" Target="/ppt/media/image2.png" Id="R33cc5a22f8214b2f" /><Relationship Type="http://schemas.openxmlformats.org/officeDocument/2006/relationships/notesSlide" Target="/ppt/notesSlides/notesSlide5.xml" Id="R7294a4f2076945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f7d2443d24177" /><Relationship Type="http://schemas.openxmlformats.org/officeDocument/2006/relationships/notesSlide" Target="/ppt/notesSlides/notesSlide6.xml" Id="R7e76ea40e46c4d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934AD6-A48D-4B61-B871-45B7559F6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5555"/>
                </a:solidFill>
              </a:defRPr>
            </a:pPr>
            <a:r>
              <a:rPr sz="1275" b="1">
                <a:solidFill>
                  <a:srgbClr val="555555"/>
                </a:solidFill>
              </a:rPr>
              <a:t>BEV 道路几何理解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10AAB1-B0A9-4640-8C21-75899FDA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819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0000"/>
                </a:solidFill>
              </a:defRPr>
            </a:pPr>
            <a:r>
              <a:rPr sz="4350" b="1">
                <a:solidFill>
                  <a:srgbClr val="000000"/>
                </a:solidFill>
              </a:rPr>
              <a:t>用双视图补上 patch 的全局上下文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1A069-91DA-4E44-8A90-FEF6CC2E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480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55555"/>
                </a:solidFill>
              </a:defRPr>
            </a:pPr>
            <a:r>
              <a:rPr sz="1800" b="0">
                <a:solidFill>
                  <a:srgbClr val="555555"/>
                </a:solidFill>
              </a:rPr>
              <a:t>Global 1024 context + Local 512 patch；DINOv2-Qwen 保持局部坐标输出。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B4827-ACB0-4F46-A56F-31C5EFF0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914400"/>
            <a:ext cx="25527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0845F4-FC8B-460F-82F0-81164074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276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核心变化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CD23D-E0CE-489C-8CAA-7353B96E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00250"/>
            <a:ext cx="200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局部细节不丢</a:t>
            </a:r>
          </a:p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全局拓扑可见</a:t>
            </a:r>
          </a:p>
          <a:p xmlns:a="http://schemas.openxmlformats.org/drawingml/2006/main">
            <a:pPr>
              <a:defRPr sz="2400" b="1">
                <a:solidFill>
                  <a:srgbClr val="000000"/>
                </a:solidFill>
              </a:defRPr>
            </a:pPr>
            <a:r>
              <a:rPr sz="2400" b="1">
                <a:solidFill>
                  <a:srgbClr val="000000"/>
                </a:solidFill>
              </a:rPr>
              <a:t>输出坐标不变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1D40B5-4850-480D-B96C-DD53CA99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29300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77777"/>
                </a:solidFill>
              </a:defRPr>
            </a:pPr>
            <a:r>
              <a:rPr sz="1275" b="0">
                <a:solidFill>
                  <a:srgbClr val="777777"/>
                </a:solidFill>
              </a:rPr>
              <a:t>当前分支：mutilvisul_dinov2_qwen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21628D-1F3E-4237-A255-C3B1C812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010966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D41E3F-9539-4CB9-8C0F-C80B24B0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LLMapGen global-local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8F9CD-AECC-44BA-9442-54975033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孤立 512 patch 会把路口结构切碎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94710-B3E6-4A36-9C3E-37616B06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目标不是放大图像本身，而是让模型看见局部窗口之外的进入和离开道路。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253DD-70C2-46D7-A448-B50D8D4E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665C0-13E8-486F-B039-4DEA2AA65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52700"/>
            <a:ext cx="3714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E39A1A-2F05-4C99-A7CF-211F677E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57550"/>
            <a:ext cx="17716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B3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63BF1-5AD5-4DA0-9164-607ACE65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38650"/>
            <a:ext cx="2247900" cy="-1066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7E8A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385EDD-A1E6-40ED-A8E2-5F594BDF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1123950" cy="2428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67E8A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94B3AC-87A9-491A-9F01-C3999726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410200"/>
            <a:ext cx="1009650" cy="-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DBB5AE-A329-4A68-AE99-2CE705303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只看 local patch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9AE3E3-A916-41DC-B527-6CFC0510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52700"/>
            <a:ext cx="3124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9D9B9-33D9-45C5-B69E-ED90D817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241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主要风险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CAF3F-BBC1-4988-90CD-F5C72ABF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143250"/>
            <a:ext cx="27051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路口外连通关系被截断，模型只能猜出口方向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边界处 incoming / outgoing 线索不足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复杂路口面容易放大、倾斜或漏边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D55366-EE8D-46D3-ADD3-8A566BD8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3124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0A81FA-078D-4A37-9E27-11AE6ED3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2415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这次改法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EE4808-E0E0-485C-9472-FBE4D79B2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43250"/>
            <a:ext cx="270510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增加 1024 全局窗口，resize 到 512 输入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保留 512 local patch 作为精细视图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坐标仍然是当前 patch 内 0..512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A87996-F69F-4A3F-A2AE-8678E1F3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15443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778883-C237-4541-B765-71C84F1B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LLMapGen global-local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E7F90C-1B38-43EC-9F6F-080A580D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新方案让模型同时看全局拓扑和局部细节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31F2DE-ABDC-45B2-B637-38EE34E3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global/local type embedding 区分视角，提示词继续约束输出当前 patch 坐标。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C54382-29CA-480C-81AA-F7589ECAF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8C9DCA-21A1-483D-962A-286DD36D7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2750"/>
            <a:ext cx="12573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4096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BEV scene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E3934-7969-45DA-8186-2930C49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38450"/>
            <a:ext cx="16573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full-coordinate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context builder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DA320-8225-4650-9DE8-AAEB2724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431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Global view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1024 -&gt; 512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16E59C-F098-4426-A89B-5E5CBB88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76650"/>
            <a:ext cx="16192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Local view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512 patch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17B8C-51F8-4F91-A0B7-E1D3E5730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13525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DINOv2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seg-trained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219156-C42E-454F-AEBD-FD5D905E0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16383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alignment layer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</a:defRPr>
            </a:pPr>
            <a:r>
              <a:rPr sz="1425" b="1">
                <a:solidFill>
                  <a:srgbClr val="000000"/>
                </a:solidFill>
              </a:rPr>
              <a:t>+ view type emb.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F15484-6D20-4BA6-85E3-22D01DC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52750"/>
            <a:ext cx="9906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Qwen3-8B</a:t>
            </a:r>
          </a:p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LoRA</a:t>
            </a:r>
          </a:p>
        </p:txBody>
      </p:sp>
      <p:cxnSp>
        <p:nvCxnSpPr>
          <p:cNvPr id="3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771650" y="337185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35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924300" y="2743200"/>
            <a:ext cx="68580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924300" y="3371850"/>
            <a:ext cx="6858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37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229350" y="2743200"/>
            <a:ext cx="647700" cy="6286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3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 flipV="1">
            <a:off x="6229350" y="3371850"/>
            <a:ext cx="647700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39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229600" y="3371850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40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10401300" y="33718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00000"/>
            </a:solidFill>
            <a:prstDash val="solid"/>
            <a:tailEnd type="arrow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6E4808-0D58-4734-B3BA-DCBEC464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143500"/>
            <a:ext cx="7524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输出：JSON 中心线 / 路口面，坐标固定在当前 local patch 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08DD06-9CD7-4E78-944D-E18F2DC0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629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BE9C70-A186-4242-B182-1CD3C3EF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867400"/>
            <a:ext cx="1009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关键点：global 只补拓扑，不改变标签坐标；local 保证道路边界和中心线细节。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A99E1-C501-4C4D-8424-F7EC38AF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712589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1AA53-99EF-4372-9608-74665EBD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LLMapGen global-local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CA5691-7397-4D72-8038-E684B6F3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数据管线先保证 context 真的来自全图坐标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D721E7-08D3-4DB6-AC9C-AC331D0A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之前黑边问题来自 context 生成脚本无法识别 x/y 命名和 full4096 patch box。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68464E-EE66-4F7C-8690-8CA883B3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279291-4507-403B-9A9C-F92E11E6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86050"/>
            <a:ext cx="1866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01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解析 patch box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1F4AC-405B-4E01-A825-6B59254A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优先读 base_patch_box_full4096；缺失时从 xNNNyMMM 文件名回退。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89513F-9E25-4D58-9A43-7BA9B9A91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86050"/>
            <a:ext cx="1866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11430">
            <a:solidFill>
              <a:srgbClr val="FF6B35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02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生成 1024 窗口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1F6EB-0C88-47AE-ABE8-6B7C2BD8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8671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以当前 patch 中心为窗口中心，在 full4096 坐标系内裁剪。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35EF0-EA19-41D9-998B-245801E97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1866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03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拼接邻近 patch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5B08F2-FB2F-4763-A934-BA3BBA4C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671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同场景所有重叠 patch 按真实偏移贴入，当前样本最后覆盖。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F35633-B170-404C-AFF7-7582243C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686050"/>
            <a:ext cx="18669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11430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57150" rIns="95250" bIns="57150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04</a:t>
            </a:r>
          </a:p>
          <a:p xmlns:a="http://schemas.openxmlformats.org/drawingml/2006/main">
            <a:pPr algn="ctr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训练 JSON 不变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22946-5639-4DC6-A973-2C1EA26F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8671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标签、prompt、局部坐标保持原始 512 patch 约定。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419350" y="316230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45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257800" y="316230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arrow" w="med" len="med"/>
          </a:ln>
        </p:spPr>
      </p:cxnSp>
      <p:cxnSp>
        <p:nvCxnSpPr>
          <p:cNvPr id="4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096250" y="3162300"/>
            <a:ext cx="9715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000000"/>
            </a:solidFill>
            <a:prstDash val="solid"/>
            <a:tailEnd type="arrow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5DF1F3-D9A8-47A9-A726-82DE5640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192B84-3B9C-4D12-8093-7A244DAC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102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31,546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A800D-3626-45B9-809C-41A4DA52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88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train samples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72CD61-26AD-483E-86A1-5A45E23B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5780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057AF9-BE6D-4DE4-A07C-166A317E8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102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3,444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820E94-7CEC-4DAF-ADC0-04C0A4863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60388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val samples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014DF4-DF6C-42CC-90C3-89BBABBC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257800"/>
            <a:ext cx="18097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3FEC5-E50F-468B-A3EF-233C20B6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4102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703D3A-76C3-42D1-AC09-31A5AF83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6038850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missing images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8697A6-0A72-4D2F-8ACF-1B5A4460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257800"/>
            <a:ext cx="23431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38C732-C7A7-4252-B155-50C9D4B3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410200"/>
            <a:ext cx="20383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Douglas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7896CB-8410-49FE-A913-64C6A5099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6038850"/>
            <a:ext cx="2000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epsilon 2.5 px, step 24 px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8F7DC6-213F-415F-9F6B-215D38B5B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57800"/>
            <a:ext cx="18859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B7ACCA-AFFF-4CC0-84EA-CBE4EFF7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410200"/>
            <a:ext cx="15811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</a:rPr>
              <a:t>512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FC241-97DB-489B-895C-9E4614F51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038850"/>
            <a:ext cx="1543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55555"/>
                </a:solidFill>
              </a:defRPr>
            </a:pPr>
            <a:r>
              <a:rPr sz="1275" b="0">
                <a:solidFill>
                  <a:srgbClr val="555555"/>
                </a:solidFill>
              </a:rPr>
              <a:t>local coordinate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C67D51-1CF1-4155-9F92-C1C58237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116241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C0509A-B322-4038-8465-30C1A0CE0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LLMapGen global-local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3D6BC-3E24-4C0D-A8C0-9CC2F91B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早期 checkpoint 已能跟随中心线，路口面还在收敛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2682DA-D613-45FD-986D-5D3E904D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这页用 checkpoint-1000 的 64 个验证集路口样本作为阶段性证据。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1A61CA-7158-435F-B706-E2218D5A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0E87C-F2CD-4DE0-A424-77BE0E6C5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7338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EA2930-3705-4E24-8E5A-43B613DD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335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当前观察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3ADE2-160C-4081-9FB4-D23F48D9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43250"/>
            <a:ext cx="33147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64 个样本中 62 个可解析，parse ok rate 为 96.9%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平均预测线数 10.31，GT 平均线数 9.27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中心线大多跟随道路方向；路口面有时偏大或倾斜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该 checkpoint 约半个 epoch，后续完整 6 epoch 还需重跑可视化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53d1b24f144324"/>
          <a:stretch xmlns:a="http://schemas.openxmlformats.org/drawingml/2006/main"/>
        </p:blipFill>
        <p:spPr>
          <a:xfrm xmlns:a="http://schemas.openxmlformats.org/drawingml/2006/main">
            <a:off x="4866878" y="2457450"/>
            <a:ext cx="6134894" cy="22479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c5a22f8214b2f"/>
          <a:stretch xmlns:a="http://schemas.openxmlformats.org/drawingml/2006/main"/>
        </p:blipFill>
        <p:spPr>
          <a:xfrm xmlns:a="http://schemas.openxmlformats.org/drawingml/2006/main">
            <a:off x="6400602" y="4819650"/>
            <a:ext cx="3067447" cy="11239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17F236-D60F-4638-A163-63FFDEE72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019800"/>
            <a:ext cx="6553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左：global/context，中：local+GT，右：prediction overlay。GT 为绿/黄，预测为紫。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B1A181-9352-4A39-B983-2F68C4597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95183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68317E-D537-4E68-BD9B-4BB9A0E01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LLMapGen global-local 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55E05-1D05-4F5E-A2A0-395ACC4F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33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00000"/>
                </a:solidFill>
              </a:defRPr>
            </a:pPr>
            <a:r>
              <a:rPr sz="3300" b="1">
                <a:solidFill>
                  <a:srgbClr val="000000"/>
                </a:solidFill>
              </a:rPr>
              <a:t>下一步验证要回答三个问题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2A3681-D12A-4D4C-8874-F2C1D0E85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3830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等完整训练 checkpoint 出来后，优先做同一批样本的复跑和消融。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949848-F576-407D-955D-DF27355D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0AA26-00A9-42F7-8E93-6864CC585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9850"/>
            <a:ext cx="33337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D770A-5C9F-4BFB-B544-CE57B3EB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1. global view 是否真正贡献拓扑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1C737E-CE01-4590-BF75-16D992B0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00400"/>
            <a:ext cx="29146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local-only 与 global+local 同样本对比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看边界道路续接、出口方向和复杂路口面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016CE-4921-4A1D-B124-890AAEA6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09850"/>
            <a:ext cx="33337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ED"/>
          </a:solidFill>
          <a:ln xmlns:a="http://schemas.openxmlformats.org/drawingml/2006/main" w="9525">
            <a:solidFill>
              <a:srgbClr val="FF6B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DF106E-9815-412A-B1E5-BD2DCD7B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81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2. type embedding 是否必要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A0BA4B-7F02-4F95-AE02-51DD76AC2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00400"/>
            <a:ext cx="29146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固定视图顺序 + 去掉 type embedding 消融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检查模型是否混淆全局缩放与局部坐标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87184E-303C-4743-B075-0784E6C7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9850"/>
            <a:ext cx="3333750" cy="2609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801FC4-71DB-40EB-AAA6-CCD93ACC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3. 质量指标是否同步改善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10448-1997-4FD1-A4D2-C6E4B11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00400"/>
            <a:ext cx="29146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重跑 64 个可视化样本与全 val 评估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• 中心线连续性、路口 polygon IoU、解析率一起看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65AAC-763E-4DDA-9920-2A1B96EC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10172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建议汇报结论：当前方案先解决上下文可见性和数据生成正确性，下一轮用完整 checkpoint 与消融确认收益。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2A7255-86AB-43CF-9E3D-6F879D59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2484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19050" tIns="19050" rIns="19050" bIns="19050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77777"/>
                </a:solidFill>
              </a:defRPr>
            </a:pPr>
            <a:r>
              <a:rPr sz="1125" b="0">
                <a:solidFill>
                  <a:srgbClr val="777777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60427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2026-07-02T10:21:26.9230000Z</dcterms:created>
  <dcterms:modified xsi:type="dcterms:W3CDTF">2026-07-02T10:21:26.9230000Z</dcterms:modified>
</coreProperties>
</file>